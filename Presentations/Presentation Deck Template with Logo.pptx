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9"/>
  </p:notesMasterIdLst>
  <p:sldIdLst>
    <p:sldId id="257" r:id="rId2"/>
    <p:sldId id="272" r:id="rId3"/>
    <p:sldId id="274" r:id="rId4"/>
    <p:sldId id="275" r:id="rId5"/>
    <p:sldId id="276" r:id="rId6"/>
    <p:sldId id="277" r:id="rId7"/>
    <p:sldId id="263" r:id="rId8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82" autoAdjust="0"/>
  </p:normalViewPr>
  <p:slideViewPr>
    <p:cSldViewPr snapToGrid="0">
      <p:cViewPr varScale="1">
        <p:scale>
          <a:sx n="91" d="100"/>
          <a:sy n="91" d="100"/>
        </p:scale>
        <p:origin x="13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7669e55c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7669e55c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Hi, my name is Emily Chan, and this is my video presentation for Module 3 of the CIND820 Capstone Project.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My project focuses on predicting medical appointment no-shows using machine learning classification techniques.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 this video, I’ll walk through my initial results, highlight key insights from the data, and explain the modeling process.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g127669e55c1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7669e55c1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7669e55c1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dataset includes three files: appointments.csv, patients.csv, and slots.csv. 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After filtering out cancelled and unknown statuses, I focused on a binary classification problem: predicting whether a patient would attend or miss their appointment.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Key patterns emerged during exploratory data analysis: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Age distribution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Most patients are between 40 and 70 years old, with no pediatric data included.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Scheduling interval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Longer wait times between booking and appointment dates are associated with higher no-show rates.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Temporal features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Mondays and Fridays show slightly elevated no-show rates.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These insights guided my feature engineering and model selection.</a:t>
            </a:r>
            <a:endParaRPr dirty="0"/>
          </a:p>
        </p:txBody>
      </p:sp>
      <p:sp>
        <p:nvSpPr>
          <p:cNvPr id="194" name="Google Shape;194;g127669e55c1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DE2AC5D-45FB-3EF7-F71E-3CD5F30D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7669e55c1_0_160:notes">
            <a:extLst>
              <a:ext uri="{FF2B5EF4-FFF2-40B4-BE49-F238E27FC236}">
                <a16:creationId xmlns:a16="http://schemas.microsoft.com/office/drawing/2014/main" id="{491A27FE-6F26-73AD-3A99-651D3275A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7669e55c1_0_160:notes">
            <a:extLst>
              <a:ext uri="{FF2B5EF4-FFF2-40B4-BE49-F238E27FC236}">
                <a16:creationId xmlns:a16="http://schemas.microsoft.com/office/drawing/2014/main" id="{CB933CBF-D423-13F7-E3C0-7B4696FA8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 performed several preprocessing steps: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Calculated scheduling intervals.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Extracted day of the week and hour of appointment.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Encoded categorical variables like sex and insurance type.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Addressed class imbalance using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SMOTE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since 77% of appointments were attended and 23% were no-shows.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Scaled numerical features using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StandardScaler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final dataset included demographic, temporal, and operational features, ready for modeling.</a:t>
            </a:r>
          </a:p>
        </p:txBody>
      </p:sp>
      <p:sp>
        <p:nvSpPr>
          <p:cNvPr id="194" name="Google Shape;194;g127669e55c1_0_160:notes">
            <a:extLst>
              <a:ext uri="{FF2B5EF4-FFF2-40B4-BE49-F238E27FC236}">
                <a16:creationId xmlns:a16="http://schemas.microsoft.com/office/drawing/2014/main" id="{51215279-8741-B211-E40C-332D26C3EF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504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C35C8E0-E8A4-9806-DA92-B7E5A140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7669e55c1_0_160:notes">
            <a:extLst>
              <a:ext uri="{FF2B5EF4-FFF2-40B4-BE49-F238E27FC236}">
                <a16:creationId xmlns:a16="http://schemas.microsoft.com/office/drawing/2014/main" id="{2F14A46A-5111-C536-4FB7-1B5D81D7F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7669e55c1_0_160:notes">
            <a:extLst>
              <a:ext uri="{FF2B5EF4-FFF2-40B4-BE49-F238E27FC236}">
                <a16:creationId xmlns:a16="http://schemas.microsoft.com/office/drawing/2014/main" id="{A9474CD0-8A80-9175-7315-CC8C3C0AF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 trained four classification models: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Used as a baseline, but performed poorly with an F1 score of 0.53.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Decision Tree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Achieved an F1 score of 0.92, but showed sensitivity to data splits.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Random Forest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Delivered strong performance with an F1 score of 0.95.</a:t>
            </a:r>
          </a:p>
          <a:p>
            <a:pPr lvl="0"/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Matched Random Forest in F1 score and achieved perfect recall, making it highly effective for identifying no-shows.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 also performed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5-fold cross-validation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to ensure robustness. Random Forest and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showed consistent performance across folds, confirming their reliability.</a:t>
            </a:r>
          </a:p>
        </p:txBody>
      </p:sp>
      <p:sp>
        <p:nvSpPr>
          <p:cNvPr id="194" name="Google Shape;194;g127669e55c1_0_160:notes">
            <a:extLst>
              <a:ext uri="{FF2B5EF4-FFF2-40B4-BE49-F238E27FC236}">
                <a16:creationId xmlns:a16="http://schemas.microsoft.com/office/drawing/2014/main" id="{21539067-2C84-3747-0A4B-28C19BB35A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68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2C5D16C-D7F4-E1A5-ACD5-4E0B30B3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7669e55c1_0_160:notes">
            <a:extLst>
              <a:ext uri="{FF2B5EF4-FFF2-40B4-BE49-F238E27FC236}">
                <a16:creationId xmlns:a16="http://schemas.microsoft.com/office/drawing/2014/main" id="{87DA288F-BD68-C594-9811-4A230D51B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7669e55c1_0_160:notes">
            <a:extLst>
              <a:ext uri="{FF2B5EF4-FFF2-40B4-BE49-F238E27FC236}">
                <a16:creationId xmlns:a16="http://schemas.microsoft.com/office/drawing/2014/main" id="{672EB9D4-87A5-68A0-FE7F-2D32B29BD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Based on the results: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Ensemble models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are best suited for this task due to their ability to handle feature interactions and imbalanced data.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Scheduling interval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temporal features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are strong predictors of no-show behavior.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is not suitable without significant feature transformation.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For future improvements, I plan to: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Explore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additional features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such as historical attendance.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Test the models on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real-world datasets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for external validation.</a:t>
            </a:r>
          </a:p>
        </p:txBody>
      </p:sp>
      <p:sp>
        <p:nvSpPr>
          <p:cNvPr id="194" name="Google Shape;194;g127669e55c1_0_160:notes">
            <a:extLst>
              <a:ext uri="{FF2B5EF4-FFF2-40B4-BE49-F238E27FC236}">
                <a16:creationId xmlns:a16="http://schemas.microsoft.com/office/drawing/2014/main" id="{D9C6525E-A9E8-0C9F-72CE-9699316E4A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6055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6FF1A55B-96A9-1A5B-8094-F8A55648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7669e55c1_0_160:notes">
            <a:extLst>
              <a:ext uri="{FF2B5EF4-FFF2-40B4-BE49-F238E27FC236}">
                <a16:creationId xmlns:a16="http://schemas.microsoft.com/office/drawing/2014/main" id="{3785ECA6-FDF3-A99D-7299-06DAED266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7669e55c1_0_160:notes">
            <a:extLst>
              <a:ext uri="{FF2B5EF4-FFF2-40B4-BE49-F238E27FC236}">
                <a16:creationId xmlns:a16="http://schemas.microsoft.com/office/drawing/2014/main" id="{BBC23162-25CA-FFB9-8227-E7F28CC22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code was developed in Python using Google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Colab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and is available on GitHub at: github.com/emchan4/CIND820-medical-no-show-prediction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 includes: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 well-documented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Notebook.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Modular functions for data loading, preprocessing, and modeling.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Visualizations saved for reporting.</a:t>
            </a:r>
          </a:p>
          <a:p>
            <a:pPr lv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Random seeds and dependencies for reproducibility.</a:t>
            </a:r>
          </a:p>
        </p:txBody>
      </p:sp>
      <p:sp>
        <p:nvSpPr>
          <p:cNvPr id="194" name="Google Shape;194;g127669e55c1_0_160:notes">
            <a:extLst>
              <a:ext uri="{FF2B5EF4-FFF2-40B4-BE49-F238E27FC236}">
                <a16:creationId xmlns:a16="http://schemas.microsoft.com/office/drawing/2014/main" id="{60585297-8EEE-9FE3-E8F1-90C9E6CFE6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2996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27a539a09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27a539a09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27a539a096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Content 1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8">
  <p:cSld name="Title Slid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ctrTitle"/>
          </p:nvPr>
        </p:nvSpPr>
        <p:spPr>
          <a:xfrm>
            <a:off x="259366" y="475050"/>
            <a:ext cx="85605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ubTitle" idx="1"/>
          </p:nvPr>
        </p:nvSpPr>
        <p:spPr>
          <a:xfrm>
            <a:off x="259366" y="3607697"/>
            <a:ext cx="85605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2 - Photo of campus Student Learning Centre with students working.">
  <p:cSld name="Title Slide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8" r:id="rId2"/>
    <p:sldLayoutId id="214748365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chan4/CIND820-medical-no-show-predic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CIND 820</a:t>
            </a:r>
            <a:br>
              <a:rPr lang="en-US" dirty="0"/>
            </a:br>
            <a:r>
              <a:rPr lang="en-US" dirty="0"/>
              <a:t>Initial Results and Code</a:t>
            </a:r>
            <a:endParaRPr dirty="0"/>
          </a:p>
        </p:txBody>
      </p:sp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Emily Chan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Analysis &amp; Key Patterns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0C0B7A-D6E8-EAE9-CE2F-07BD0F15C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334" y="2211155"/>
            <a:ext cx="3784484" cy="2435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43A9E-A2FB-7184-9CEB-52B26CB09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007" y="3426975"/>
            <a:ext cx="3962663" cy="243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00CE0-969C-B5EA-372F-CDEA34AEF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97" y="1364864"/>
            <a:ext cx="3464637" cy="2245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4FCBC7D2-0F34-059E-03EE-F63E6D5D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>
            <a:extLst>
              <a:ext uri="{FF2B5EF4-FFF2-40B4-BE49-F238E27FC236}">
                <a16:creationId xmlns:a16="http://schemas.microsoft.com/office/drawing/2014/main" id="{781B29D1-F50F-80DE-CEE6-4A7FC05535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1727C752-C3E0-F0E8-9A68-614CFB3C6E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Preparation</a:t>
            </a:r>
            <a:endParaRPr dirty="0"/>
          </a:p>
        </p:txBody>
      </p:sp>
      <p:sp>
        <p:nvSpPr>
          <p:cNvPr id="4" name="Google Shape;190;p35">
            <a:extLst>
              <a:ext uri="{FF2B5EF4-FFF2-40B4-BE49-F238E27FC236}">
                <a16:creationId xmlns:a16="http://schemas.microsoft.com/office/drawing/2014/main" id="{CEA9C0E2-A407-D649-9FF1-1F9D9DAC0707}"/>
              </a:ext>
            </a:extLst>
          </p:cNvPr>
          <p:cNvSpPr txBox="1">
            <a:spLocks/>
          </p:cNvSpPr>
          <p:nvPr/>
        </p:nvSpPr>
        <p:spPr>
          <a:xfrm>
            <a:off x="465962" y="1462215"/>
            <a:ext cx="11256900" cy="11456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Raw Data 	Cleaning	Feature Engineering	Encoding	Scaling	Balanced Dataset(SMOTE)	Ready for Modeling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DF19626-F0E0-4D70-CFEE-31ED086CFD9C}"/>
              </a:ext>
            </a:extLst>
          </p:cNvPr>
          <p:cNvSpPr/>
          <p:nvPr/>
        </p:nvSpPr>
        <p:spPr>
          <a:xfrm>
            <a:off x="2012053" y="1735484"/>
            <a:ext cx="294291" cy="168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39CD2DC-2405-6383-0A48-CC0D593EB756}"/>
              </a:ext>
            </a:extLst>
          </p:cNvPr>
          <p:cNvSpPr/>
          <p:nvPr/>
        </p:nvSpPr>
        <p:spPr>
          <a:xfrm>
            <a:off x="3705289" y="1735484"/>
            <a:ext cx="294291" cy="168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EC6FF42-2DE4-84C0-3FA2-F338C57962D9}"/>
              </a:ext>
            </a:extLst>
          </p:cNvPr>
          <p:cNvSpPr/>
          <p:nvPr/>
        </p:nvSpPr>
        <p:spPr>
          <a:xfrm>
            <a:off x="7282991" y="1735484"/>
            <a:ext cx="294291" cy="168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4B082A0-6291-E400-5E97-80C877E3D0DF}"/>
              </a:ext>
            </a:extLst>
          </p:cNvPr>
          <p:cNvSpPr/>
          <p:nvPr/>
        </p:nvSpPr>
        <p:spPr>
          <a:xfrm>
            <a:off x="9261187" y="1735484"/>
            <a:ext cx="294291" cy="168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AFC66B5-2F0F-4D1D-1BA7-C10D024A7D15}"/>
              </a:ext>
            </a:extLst>
          </p:cNvPr>
          <p:cNvSpPr/>
          <p:nvPr/>
        </p:nvSpPr>
        <p:spPr>
          <a:xfrm>
            <a:off x="10860693" y="1735484"/>
            <a:ext cx="294291" cy="168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ABFCD71-FBB8-BAA0-E41F-15B6780F27EA}"/>
              </a:ext>
            </a:extLst>
          </p:cNvPr>
          <p:cNvSpPr/>
          <p:nvPr/>
        </p:nvSpPr>
        <p:spPr>
          <a:xfrm>
            <a:off x="5422660" y="2129622"/>
            <a:ext cx="294291" cy="168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D83031-3F54-B5B4-02E7-C431487B7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425028"/>
              </p:ext>
            </p:extLst>
          </p:nvPr>
        </p:nvGraphicFramePr>
        <p:xfrm>
          <a:off x="2136224" y="3092494"/>
          <a:ext cx="7501846" cy="2315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0923">
                  <a:extLst>
                    <a:ext uri="{9D8B030D-6E8A-4147-A177-3AD203B41FA5}">
                      <a16:colId xmlns:a16="http://schemas.microsoft.com/office/drawing/2014/main" val="2771639064"/>
                    </a:ext>
                  </a:extLst>
                </a:gridCol>
                <a:gridCol w="3750923">
                  <a:extLst>
                    <a:ext uri="{9D8B030D-6E8A-4147-A177-3AD203B41FA5}">
                      <a16:colId xmlns:a16="http://schemas.microsoft.com/office/drawing/2014/main" val="1056401440"/>
                    </a:ext>
                  </a:extLst>
                </a:gridCol>
              </a:tblGrid>
              <a:tr h="419328">
                <a:tc>
                  <a:txBody>
                    <a:bodyPr/>
                    <a:lstStyle/>
                    <a:p>
                      <a:r>
                        <a:rPr lang="en-US" sz="2400" dirty="0"/>
                        <a:t>Before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After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235500"/>
                  </a:ext>
                </a:extLst>
              </a:tr>
              <a:tr h="419328">
                <a:tc>
                  <a:txBody>
                    <a:bodyPr/>
                    <a:lstStyle/>
                    <a:p>
                      <a:r>
                        <a:rPr lang="en-US" sz="2400" dirty="0"/>
                        <a:t>Raw CSV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Cleaned </a:t>
                      </a:r>
                      <a:r>
                        <a:rPr lang="en-US" sz="2400" dirty="0" err="1"/>
                        <a:t>DataFrames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92325"/>
                  </a:ext>
                </a:extLst>
              </a:tr>
              <a:tr h="419328">
                <a:tc>
                  <a:txBody>
                    <a:bodyPr/>
                    <a:lstStyle/>
                    <a:p>
                      <a:r>
                        <a:rPr lang="en-US" sz="2400" dirty="0"/>
                        <a:t>Mixed 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Standardized formats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93148"/>
                  </a:ext>
                </a:extLst>
              </a:tr>
              <a:tr h="486548">
                <a:tc>
                  <a:txBody>
                    <a:bodyPr/>
                    <a:lstStyle/>
                    <a:p>
                      <a:r>
                        <a:rPr lang="en-US" sz="2400" dirty="0"/>
                        <a:t>Categorical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One-hot encoded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789911"/>
                  </a:ext>
                </a:extLst>
              </a:tr>
              <a:tr h="419328">
                <a:tc>
                  <a:txBody>
                    <a:bodyPr/>
                    <a:lstStyle/>
                    <a:p>
                      <a:r>
                        <a:rPr lang="en-US" sz="2400" dirty="0"/>
                        <a:t>Imbalanced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Balanced via SMOTE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784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45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BA6594-36D5-3110-479C-33968148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>
            <a:extLst>
              <a:ext uri="{FF2B5EF4-FFF2-40B4-BE49-F238E27FC236}">
                <a16:creationId xmlns:a16="http://schemas.microsoft.com/office/drawing/2014/main" id="{19F53153-8A45-841A-C6DC-926DE97AAC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87AF1576-5D2D-329C-8829-CCC9F9D35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Development &amp; Evaluation</a:t>
            </a:r>
            <a:endParaRPr dirty="0"/>
          </a:p>
        </p:txBody>
      </p:sp>
      <p:sp>
        <p:nvSpPr>
          <p:cNvPr id="4" name="Google Shape;190;p35">
            <a:extLst>
              <a:ext uri="{FF2B5EF4-FFF2-40B4-BE49-F238E27FC236}">
                <a16:creationId xmlns:a16="http://schemas.microsoft.com/office/drawing/2014/main" id="{A18AF86B-B24B-DED1-6C1A-A160E0C7C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8697" y="1084210"/>
            <a:ext cx="11256900" cy="756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2400" dirty="0"/>
              <a:t>Models trained:</a:t>
            </a: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1C8D8-B2CF-3FDF-8384-1249E4E7C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145" y="1264517"/>
            <a:ext cx="7706801" cy="2076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A338B-35E9-4000-4159-88FDE73DD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415" y="3516743"/>
            <a:ext cx="4791868" cy="294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0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71104877-F1F4-BE56-B667-4475E4F4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>
            <a:extLst>
              <a:ext uri="{FF2B5EF4-FFF2-40B4-BE49-F238E27FC236}">
                <a16:creationId xmlns:a16="http://schemas.microsoft.com/office/drawing/2014/main" id="{3AFB9582-44D6-B5D6-EF1F-85776D6A6A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AD4358B5-857A-BC73-2E8E-579AE4748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Insights &amp; Next Steps</a:t>
            </a:r>
            <a:endParaRPr dirty="0"/>
          </a:p>
        </p:txBody>
      </p:sp>
      <p:sp>
        <p:nvSpPr>
          <p:cNvPr id="2" name="Google Shape;190;p35">
            <a:extLst>
              <a:ext uri="{FF2B5EF4-FFF2-40B4-BE49-F238E27FC236}">
                <a16:creationId xmlns:a16="http://schemas.microsoft.com/office/drawing/2014/main" id="{0C107598-DA15-860E-0EBA-BE0ECAFC81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1617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defRPr sz="1800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Ensemble models outperform simpler ones</a:t>
            </a:r>
          </a:p>
          <a:p>
            <a:pPr marL="285750" indent="-285750">
              <a:defRPr sz="1800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Temporal and scheduling features are strong predictors</a:t>
            </a:r>
          </a:p>
          <a:p>
            <a:pPr marL="285750" indent="-285750">
              <a:defRPr sz="1800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Logistic Regression not suitable without transformation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36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208967DB-062B-8A6B-7153-3B1A51E2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>
            <a:extLst>
              <a:ext uri="{FF2B5EF4-FFF2-40B4-BE49-F238E27FC236}">
                <a16:creationId xmlns:a16="http://schemas.microsoft.com/office/drawing/2014/main" id="{C9458744-443C-449A-8A74-106A6B3461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1ADDDBE5-B0AE-F13D-3FB9-BDFC10F331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Code &amp; Reproducibility</a:t>
            </a:r>
            <a:endParaRPr dirty="0"/>
          </a:p>
        </p:txBody>
      </p:sp>
      <p:sp>
        <p:nvSpPr>
          <p:cNvPr id="2" name="Google Shape;190;p35">
            <a:extLst>
              <a:ext uri="{FF2B5EF4-FFF2-40B4-BE49-F238E27FC236}">
                <a16:creationId xmlns:a16="http://schemas.microsoft.com/office/drawing/2014/main" id="{5AE9DCD9-461D-45C0-325B-272819FADD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Code developed in Python using Google </a:t>
            </a:r>
            <a:r>
              <a:rPr lang="en-US" sz="2400" dirty="0" err="1">
                <a:solidFill>
                  <a:schemeClr val="tx1"/>
                </a:solidFill>
              </a:rPr>
              <a:t>Colab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GitHub repo: </a:t>
            </a:r>
            <a:r>
              <a:rPr lang="en-US" sz="2400" dirty="0">
                <a:solidFill>
                  <a:schemeClr val="tx1"/>
                </a:solidFill>
                <a:hlinkClick r:id="rId3"/>
              </a:rPr>
              <a:t>https://github.com/emchan4/CIND820-medical-no-show-prediction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Includes modular functions, visualizations, and reproducibility practices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006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ctrTitle"/>
          </p:nvPr>
        </p:nvSpPr>
        <p:spPr>
          <a:xfrm>
            <a:off x="396000" y="2051602"/>
            <a:ext cx="8560500" cy="901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rontoMet_MasterTemplate v1">
  <a:themeElements>
    <a:clrScheme name="Ryerson University">
      <a:dk1>
        <a:srgbClr val="000000"/>
      </a:dk1>
      <a:lt1>
        <a:srgbClr val="FFFFFF"/>
      </a:lt1>
      <a:dk2>
        <a:srgbClr val="004C9B"/>
      </a:dk2>
      <a:lt2>
        <a:srgbClr val="FFDC00"/>
      </a:lt2>
      <a:accent1>
        <a:srgbClr val="011E5E"/>
      </a:accent1>
      <a:accent2>
        <a:srgbClr val="1297EB"/>
      </a:accent2>
      <a:accent3>
        <a:srgbClr val="4CB4F1"/>
      </a:accent3>
      <a:accent4>
        <a:srgbClr val="FD9208"/>
      </a:accent4>
      <a:accent5>
        <a:srgbClr val="FEBC0D"/>
      </a:accent5>
      <a:accent6>
        <a:srgbClr val="FFEE0A"/>
      </a:accent6>
      <a:hlink>
        <a:srgbClr val="004C9B"/>
      </a:hlink>
      <a:folHlink>
        <a:srgbClr val="D0D0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606</Words>
  <Application>Microsoft Office PowerPoint</Application>
  <PresentationFormat>Custom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Times New Roman</vt:lpstr>
      <vt:lpstr>Calibri</vt:lpstr>
      <vt:lpstr>Arial</vt:lpstr>
      <vt:lpstr>TorontoMet_MasterTemplate v1</vt:lpstr>
      <vt:lpstr>CIND 820 Initial Results and Code</vt:lpstr>
      <vt:lpstr>Data Analysis &amp; Key Patterns</vt:lpstr>
      <vt:lpstr>Data Preparation</vt:lpstr>
      <vt:lpstr>Model Development &amp; Evaluation</vt:lpstr>
      <vt:lpstr>Key Insights &amp; Next Steps</vt:lpstr>
      <vt:lpstr>Code &amp; Reproducibility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Emily Chan</dc:creator>
  <cp:lastModifiedBy>Emily Chan</cp:lastModifiedBy>
  <cp:revision>3</cp:revision>
  <dcterms:modified xsi:type="dcterms:W3CDTF">2025-11-05T15:11:41Z</dcterms:modified>
</cp:coreProperties>
</file>